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version of Phase 4. Three major upgrades from prototype: Banking77-grounded manuals, class-scoped FAISS, and call-level LLM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key differences from standard RAG. The most important are class-scoped indexes and call-level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change from v2: steps 4-7 now pass ALL agent turns to the LLM in one prompt instead of evaluating each turn separately.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improvement: rules are now grounded in real Banking77 utterances, not just class names. This makes retrieval more accurate because the vocabulary matches.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CALL-B demonstrated this perfectly. The agent said the wrong thing in turn 1 then completely corrected in turn 2. The old system would flag turn 1 in isolation. The new system sees the full picture.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Perfect results: 3/3 classifier accuracy thanks to Banking77-grounded manuals. 3/3 violations detected. Only 1 Groq API call per call instead of 1 per utterance.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demonstration of Goal 3. The old system would flag turn 1 as a standalone violation. The new system understands the agent self-corrected and coaches accordingly.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Coaching report generated automatically from results.json. The rephrasing section shows exactly what the agent should have said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of the three limitations are now fixed. Only fine-class confusion remains, and that is correctly attributed to the upstream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807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347472" y="8229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Phase 4 — Final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47472" y="1234440"/>
            <a:ext cx="8412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</a:rPr>
              <a:t>RAG Policy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</a:rPr>
              <a:t>Compliance System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347472" y="29718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C39A"/>
                </a:solidFill>
              </a:rPr>
              <a:t>Classify · Retrieve · Evaluate · Coach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7472" y="349300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Banking77 Grounded  ·  78 Class-Scoped FAISS  ·  Call-Level LLM  ·  Coaching Reports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0" y="4645152"/>
            <a:ext cx="9144000" cy="4754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464515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Graduation Project  ·  AI System for Customer Support Call Evaluation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Standard RAG vs Our Approach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The key architectural difference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3931920" cy="3657600"/>
          </a:xfrm>
          <a:prstGeom prst="rect">
            <a:avLst/>
          </a:prstGeom>
          <a:solidFill>
            <a:srgbClr val="1C1C2E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371600"/>
            <a:ext cx="3931920" cy="420624"/>
          </a:xfrm>
          <a:prstGeom prst="rect">
            <a:avLst/>
          </a:prstGeom>
          <a:solidFill>
            <a:srgbClr val="4B4B8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7160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Standard RAG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0C0"/>
                </a:solidFill>
              </a:rPr>
              <a:t>▪  One flat knowledge base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1762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   all docs in one index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5786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0C0"/>
                </a:solidFill>
              </a:rPr>
              <a:t>▪  Generic retrieval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8346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   query searches everything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2369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0C0"/>
                </a:solidFill>
              </a:rPr>
              <a:t>▪  No issue awareness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4930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   no classification step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8953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0C0"/>
                </a:solidFill>
              </a:rPr>
              <a:t>▪  Off-topic rules to LLM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4151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   noisy, imprecise context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060A0"/>
                </a:solidFill>
              </a:rPr>
              <a:t>Precision suffers with many unrelated documents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92040" y="1371600"/>
            <a:ext cx="3931920" cy="3657600"/>
          </a:xfrm>
          <a:prstGeom prst="rect">
            <a:avLst/>
          </a:prstGeom>
          <a:solidFill>
            <a:srgbClr val="0D2B1E"/>
          </a:solidFill>
          <a:ln/>
        </p:spPr>
      </p:sp>
      <p:sp>
        <p:nvSpPr>
          <p:cNvPr id="18" name="Shape 16"/>
          <p:cNvSpPr/>
          <p:nvPr/>
        </p:nvSpPr>
        <p:spPr>
          <a:xfrm>
            <a:off x="4892040" y="1371600"/>
            <a:ext cx="3931920" cy="42062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37160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Our Modified RAG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74920" y="1920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✓  78 class-scoped indexes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4920" y="217627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   one FAISS index per issue class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25786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✓  Classifier-guided retrieval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74920" y="28346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   DualHead RoBERTa selects index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4920" y="32369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✓  Banking77-grounded rules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74920" y="34930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   rules written from real queries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74920" y="38953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</a:rPr>
              <a:t>✓  Call-level LLM evaluation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74920" y="4151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    full conversation in one prompt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4617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2C39A"/>
                </a:solidFill>
              </a:rPr>
              <a:t>Precision improves — LLM only sees what matters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160520" y="29260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VS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Complete System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</a:rPr>
              <a:t>Setup runs once · Runtime runs per call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8503920" cy="274320"/>
          </a:xfrm>
          <a:prstGeom prst="rect">
            <a:avLst/>
          </a:prstGeom>
          <a:solidFill>
            <a:srgbClr val="0A2A1E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716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SETUP PHASE — run once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697480" cy="658368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438912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691640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32104" y="1746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Generate 78 manuals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32104" y="20299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Groq + real Banking77 examples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35808" y="1975104"/>
            <a:ext cx="146304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0" y="1691640"/>
            <a:ext cx="2697480" cy="658368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691640"/>
            <a:ext cx="438912" cy="65836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691640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12464" y="1746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Embed all rules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12464" y="20299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all-MiniLM-L6-v2 · 384-dim vectors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16168" y="1975104"/>
            <a:ext cx="146304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Shape 17"/>
          <p:cNvSpPr/>
          <p:nvPr/>
        </p:nvSpPr>
        <p:spPr>
          <a:xfrm>
            <a:off x="6080760" y="1691640"/>
            <a:ext cx="2697480" cy="658368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1691640"/>
            <a:ext cx="438912" cy="658368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1691640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92824" y="17465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Build 78 FAISS indexes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592824" y="20299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data/indexes/{class}.faiss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2487168"/>
            <a:ext cx="8503920" cy="274320"/>
          </a:xfrm>
          <a:prstGeom prst="rect">
            <a:avLst/>
          </a:prstGeom>
          <a:solidFill>
            <a:srgbClr val="0A1A2E"/>
          </a:solidFill>
          <a:ln w="6350">
            <a:solidFill>
              <a:srgbClr val="185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4871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EB8F7"/>
                </a:solidFill>
              </a:rPr>
              <a:t>RUNTIME PHASE — per call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" y="28163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Once per call: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371600" y="2798064"/>
            <a:ext cx="2240280" cy="621792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371600" y="2798064"/>
            <a:ext cx="384048" cy="621792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2798064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828800" y="285292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Join customer turns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828800" y="3108960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all customer text → one string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30168" y="3063240"/>
            <a:ext cx="146304" cy="64008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3" name="Shape 31"/>
          <p:cNvSpPr/>
          <p:nvPr/>
        </p:nvSpPr>
        <p:spPr>
          <a:xfrm>
            <a:off x="3794760" y="2798064"/>
            <a:ext cx="2240280" cy="621792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794760" y="2798064"/>
            <a:ext cx="384048" cy="621792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5" name="Text 33"/>
          <p:cNvSpPr/>
          <p:nvPr/>
        </p:nvSpPr>
        <p:spPr>
          <a:xfrm>
            <a:off x="3794760" y="2798064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251960" y="285292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DualHead Classifier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251960" y="3108960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RoBERTa → fine label (1 of 78)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53328" y="3063240"/>
            <a:ext cx="146304" cy="64008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9" name="Shape 37"/>
          <p:cNvSpPr/>
          <p:nvPr/>
        </p:nvSpPr>
        <p:spPr>
          <a:xfrm>
            <a:off x="6217920" y="2798064"/>
            <a:ext cx="2240280" cy="621792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17920" y="2798064"/>
            <a:ext cx="384048" cy="621792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41" name="Text 39"/>
          <p:cNvSpPr/>
          <p:nvPr/>
        </p:nvSpPr>
        <p:spPr>
          <a:xfrm>
            <a:off x="6217920" y="2798064"/>
            <a:ext cx="3840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675120" y="2852928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Load class index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675120" y="3108960"/>
            <a:ext cx="171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data/indexes/{fine_label}.faiss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" y="3520440"/>
            <a:ext cx="8503920" cy="201168"/>
          </a:xfrm>
          <a:prstGeom prst="rect">
            <a:avLst/>
          </a:prstGeom>
          <a:solidFill>
            <a:srgbClr val="0D1F30"/>
          </a:solidFill>
          <a:ln w="5080">
            <a:solidFill>
              <a:srgbClr val="334155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411480" y="352044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EB8F7"/>
                </a:solidFill>
              </a:rPr>
              <a:t>ALL agent turns evaluated together (call-level):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20040" y="3767328"/>
            <a:ext cx="1993392" cy="621792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0040" y="3767328"/>
            <a:ext cx="347472" cy="621792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48" name="Text 46"/>
          <p:cNvSpPr/>
          <p:nvPr/>
        </p:nvSpPr>
        <p:spPr>
          <a:xfrm>
            <a:off x="320040" y="3767328"/>
            <a:ext cx="347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740664" y="382219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Embed all agent turns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40664" y="4078224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one vector per turn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331720" y="4032504"/>
            <a:ext cx="118872" cy="6400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2" name="Shape 50"/>
          <p:cNvSpPr/>
          <p:nvPr/>
        </p:nvSpPr>
        <p:spPr>
          <a:xfrm>
            <a:off x="2468880" y="3767328"/>
            <a:ext cx="1993392" cy="621792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468880" y="3767328"/>
            <a:ext cx="347472" cy="621792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54" name="Text 52"/>
          <p:cNvSpPr/>
          <p:nvPr/>
        </p:nvSpPr>
        <p:spPr>
          <a:xfrm>
            <a:off x="2468880" y="3767328"/>
            <a:ext cx="347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2889504" y="382219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Query FAISS → top-3 per turn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2889504" y="4078224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deduplicate rules across all turns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480560" y="4032504"/>
            <a:ext cx="118872" cy="6400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8" name="Shape 56"/>
          <p:cNvSpPr/>
          <p:nvPr/>
        </p:nvSpPr>
        <p:spPr>
          <a:xfrm>
            <a:off x="4617720" y="3767328"/>
            <a:ext cx="1993392" cy="621792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617720" y="3767328"/>
            <a:ext cx="347472" cy="621792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60" name="Text 58"/>
          <p:cNvSpPr/>
          <p:nvPr/>
        </p:nvSpPr>
        <p:spPr>
          <a:xfrm>
            <a:off x="4617720" y="3767328"/>
            <a:ext cx="347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038344" y="382219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ONE LLM call (full call)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038344" y="4078224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turns + all rules → call verdict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629400" y="4032504"/>
            <a:ext cx="118872" cy="6400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4" name="Shape 62"/>
          <p:cNvSpPr/>
          <p:nvPr/>
        </p:nvSpPr>
        <p:spPr>
          <a:xfrm>
            <a:off x="6766560" y="3767328"/>
            <a:ext cx="1993392" cy="621792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766560" y="3767328"/>
            <a:ext cx="347472" cy="62179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6" name="Text 64"/>
          <p:cNvSpPr/>
          <p:nvPr/>
        </p:nvSpPr>
        <p:spPr>
          <a:xfrm>
            <a:off x="6766560" y="3767328"/>
            <a:ext cx="3474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7187184" y="3822192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Call-level verdict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7187184" y="4078224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violations list + summary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20040" y="4498848"/>
            <a:ext cx="8503920" cy="502920"/>
          </a:xfrm>
          <a:prstGeom prst="rect">
            <a:avLst/>
          </a:prstGeom>
          <a:solidFill>
            <a:srgbClr val="0D2B1E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320040" y="4498848"/>
            <a:ext cx="347472" cy="502920"/>
          </a:xfrm>
          <a:prstGeom prst="rect">
            <a:avLst/>
          </a:prstGeom>
          <a:solidFill>
            <a:srgbClr val="065A4E"/>
          </a:solidFill>
          <a:ln/>
        </p:spPr>
      </p:sp>
      <p:sp>
        <p:nvSpPr>
          <p:cNvPr id="71" name="Text 69"/>
          <p:cNvSpPr/>
          <p:nvPr/>
        </p:nvSpPr>
        <p:spPr>
          <a:xfrm>
            <a:off x="320040" y="4498848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749808" y="45445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Coaching report  (once per call)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749808" y="4782312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Read results → Groq generates strengths · improvements · rephrasing → data/coaching/{call_id}.json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Knowledge Base — Grounded in Banking77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</a:rPr>
              <a:t>Real customer queries → better policy rules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023360" cy="365760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4023360" cy="384048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716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Banking77 Dataset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8366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10,003 real customer service queries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77 fine-grained intent classes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8833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Same classes as our classifier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0906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Used to ground each policy manual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4930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4F8"/>
                </a:solidFill>
              </a:rPr>
              <a:t>Example: lost_or_stolen_card 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89534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C39A"/>
                </a:solidFill>
              </a:rPr>
              <a:t>  'I left my card at a restaurant'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2976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C39A"/>
                </a:solidFill>
              </a:rPr>
              <a:t>  'Someone is using my card fraudulently'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4160520" cy="3657600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371600"/>
            <a:ext cx="416052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3716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Rule Quality: Before vs After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00600" y="1865376"/>
            <a:ext cx="3886200" cy="219456"/>
          </a:xfrm>
          <a:prstGeom prst="rect">
            <a:avLst/>
          </a:prstGeom>
          <a:solidFill>
            <a:srgbClr val="3B1A1A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865376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CA5A5"/>
                </a:solidFill>
              </a:rPr>
              <a:t>Before — name only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46320" y="21214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"Write 5 rules for agents handling: lost_or_stolen_card"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243230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A5A5"/>
                </a:solidFill>
              </a:rPr>
              <a:t>→ Generic rules with no connection to real language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00600" y="2834640"/>
            <a:ext cx="3886200" cy="219456"/>
          </a:xfrm>
          <a:prstGeom prst="rect">
            <a:avLst/>
          </a:prstGeom>
          <a:solidFill>
            <a:srgbClr val="0D2B1E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83464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E7B7"/>
                </a:solidFill>
              </a:rPr>
              <a:t>After — Banking77 grounded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3090672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"Here are 10 real queries customers send about this issue. Based on these, write 5 rules..."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35295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</a:rPr>
              <a:t>→ Rules match vocabulary of real customer language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3913632"/>
            <a:ext cx="1234440" cy="8046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95020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</a:rPr>
              <a:t>78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800600" y="42793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Manuals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00600" y="446227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grounded in real queries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53912" y="3913632"/>
            <a:ext cx="1234440" cy="8046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1" name="Text 29"/>
          <p:cNvSpPr/>
          <p:nvPr/>
        </p:nvSpPr>
        <p:spPr>
          <a:xfrm>
            <a:off x="6153912" y="395020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</a:rPr>
              <a:t>78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153912" y="42793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Indexes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53912" y="446227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one per fine class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507224" y="3913632"/>
            <a:ext cx="1234440" cy="804672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5" name="Text 33"/>
          <p:cNvSpPr/>
          <p:nvPr/>
        </p:nvSpPr>
        <p:spPr>
          <a:xfrm>
            <a:off x="7507224" y="395020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</a:rPr>
              <a:t>390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7507224" y="427939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Rules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507224" y="446227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390 embedded vectors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Call-Level Evaluation — The Key Upgrade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Full conversation context in one LLM call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3931920" cy="3657600"/>
          </a:xfrm>
          <a:prstGeom prst="rect">
            <a:avLst/>
          </a:prstGeom>
          <a:solidFill>
            <a:srgbClr val="1C1C2E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3931920" cy="402336"/>
          </a:xfrm>
          <a:prstGeom prst="rect">
            <a:avLst/>
          </a:prstGeom>
          <a:solidFill>
            <a:srgbClr val="4B4B8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7160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Old — Per Utterance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01952"/>
            <a:ext cx="3566160" cy="640080"/>
          </a:xfrm>
          <a:prstGeom prst="rect">
            <a:avLst/>
          </a:prstGeom>
          <a:solidFill>
            <a:srgbClr val="3B1A1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476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A5A5"/>
                </a:solidFill>
              </a:rPr>
              <a:t>Turn 1: "nothing we can do"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2402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A5A5"/>
                </a:solidFill>
              </a:rPr>
              <a:t>→ VIOLATION ✗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3566160" cy="64008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6974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Turn 2: "I apologise, let me raise a recall"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299008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8"/>
                </a:solidFill>
              </a:rPr>
              <a:t>→ ok ✓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3566160" cy="64008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44728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4F8"/>
                </a:solidFill>
              </a:rPr>
              <a:t>Turn 3: "case ref within 24hrs"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37398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8"/>
                </a:solidFill>
              </a:rPr>
              <a:t>→ ok ✓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224528"/>
            <a:ext cx="3566160" cy="548640"/>
          </a:xfrm>
          <a:prstGeom prst="rect">
            <a:avLst/>
          </a:prstGeom>
          <a:solidFill>
            <a:srgbClr val="3B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27939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A5A5"/>
                </a:solidFill>
              </a:rPr>
              <a:t>Result: 1 violation flagged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45171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Problem: agent self-corrected but system still penalises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92040" y="1371600"/>
            <a:ext cx="3931920" cy="3657600"/>
          </a:xfrm>
          <a:prstGeom prst="rect">
            <a:avLst/>
          </a:prstGeom>
          <a:solidFill>
            <a:srgbClr val="0D2B1E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1371600"/>
            <a:ext cx="3931920" cy="40233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37160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New — Full Call Context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0" y="1901952"/>
            <a:ext cx="3566160" cy="2249424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19568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LLM receives all 3 turns at once: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66360" y="22311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</a:rPr>
              <a:t>[1] "nothing we can do"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66360" y="24688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</a:rPr>
              <a:t>[2] "I apologise, let me raise a recall"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66360" y="270662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</a:rPr>
              <a:t>[3] "case ref within 24hrs"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66360" y="299923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+ Relevant policy rules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0" y="4224528"/>
            <a:ext cx="3566160" cy="548640"/>
          </a:xfrm>
          <a:prstGeom prst="rect">
            <a:avLst/>
          </a:prstGeom>
          <a:solidFill>
            <a:srgbClr val="0D2B1E"/>
          </a:solidFill>
          <a:ln w="635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427939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</a:rPr>
              <a:t>Result: VIOLATION on turn 1, noted as partially corrected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66360" y="451713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Benefit: coaching is more accurate and fair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160520" y="29260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VS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Evaluation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3 transcripts · Banking77 customer turns · call-level verdict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503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1417320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CALL-A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81328" y="141732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lost_or_stolen_card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0" y="1417320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4E"/>
                </a:solidFill>
              </a:rPr>
              <a:t>✓ MATCH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19472" y="1572768"/>
            <a:ext cx="1234440" cy="402336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10" name="Text 8"/>
          <p:cNvSpPr/>
          <p:nvPr/>
        </p:nvSpPr>
        <p:spPr>
          <a:xfrm>
            <a:off x="4919472" y="157276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VIOLATION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36208" y="141732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Agent asked customer for full PIN — security breach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240280"/>
            <a:ext cx="8503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8912" y="2240280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CALL-B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81328" y="224028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cancel_transfer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0" y="2240280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4E"/>
                </a:solidFill>
              </a:rPr>
              <a:t>✓ MATCH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19472" y="2395728"/>
            <a:ext cx="1234440" cy="40233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4919472" y="239572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VIOLATION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36208" y="224028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Agent said nothing could be done — self-corrected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063240"/>
            <a:ext cx="850392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8912" y="3063240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CALL-C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81328" y="3063240"/>
            <a:ext cx="2331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card_payment_fee_charged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0" y="3063240"/>
            <a:ext cx="1005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4E"/>
                </a:solidFill>
              </a:rPr>
              <a:t>✓ MATCH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19472" y="3218688"/>
            <a:ext cx="1234440" cy="402336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24" name="Text 22"/>
          <p:cNvSpPr/>
          <p:nvPr/>
        </p:nvSpPr>
        <p:spPr>
          <a:xfrm>
            <a:off x="4919472" y="321868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VIOLATION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36208" y="306324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Agent dismissed complaint — apologised and resolved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950208"/>
            <a:ext cx="8503920" cy="10972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40416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</a:rPr>
              <a:t>3/3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40080" y="4498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Classifier accuracy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0" y="40416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2410C"/>
                </a:solidFill>
              </a:rPr>
              <a:t>3/3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2743200" y="4498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Violations detected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40416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EE7B7"/>
                </a:solidFill>
              </a:rPr>
              <a:t>100%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4846320" y="4498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Detection rate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49440" y="40416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1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6949440" y="4498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Groq call per call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Real Output — CALL-B (cancel_transfer)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</a:rPr>
              <a:t>Self-correction correctly handled by call-level LLM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8503920" cy="274320"/>
          </a:xfrm>
          <a:prstGeom prst="rect">
            <a:avLst/>
          </a:prstGeom>
          <a:solidFill>
            <a:srgbClr val="0A1A2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EB8F7"/>
                </a:solidFill>
              </a:rPr>
              <a:t>All 3 agent turns sent to LLM together: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8503920" cy="457200"/>
          </a:xfrm>
          <a:prstGeom prst="rect">
            <a:avLst/>
          </a:prstGeom>
          <a:solidFill>
            <a:srgbClr val="3B1A1A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691640"/>
            <a:ext cx="347472" cy="457200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69164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169164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CA5A5"/>
                </a:solidFill>
              </a:rPr>
              <a:t>"...we cannot do anything about it — you will just have to contact the recipient yourself."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8503920" cy="457200"/>
          </a:xfrm>
          <a:prstGeom prst="rect">
            <a:avLst/>
          </a:prstGeom>
          <a:solidFill>
            <a:srgbClr val="0D2B1E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2221992"/>
            <a:ext cx="347472" cy="457200"/>
          </a:xfrm>
          <a:prstGeom prst="rect">
            <a:avLst/>
          </a:prstGeom>
          <a:solidFill>
            <a:srgbClr val="065A4E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221992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9808" y="2221992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E7B7"/>
                </a:solidFill>
              </a:rPr>
              <a:t>"You are right, I apologise. I can raise a recall request on your behalf."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752344"/>
            <a:ext cx="8503920" cy="457200"/>
          </a:xfrm>
          <a:prstGeom prst="rect">
            <a:avLst/>
          </a:prstGeom>
          <a:solidFill>
            <a:srgbClr val="0D2B1E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2752344"/>
            <a:ext cx="347472" cy="457200"/>
          </a:xfrm>
          <a:prstGeom prst="rect">
            <a:avLst/>
          </a:prstGeom>
          <a:solidFill>
            <a:srgbClr val="065A4E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752344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" y="2752344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E7B7"/>
                </a:solidFill>
              </a:rPr>
              <a:t>"The recall request has been submitted. Your case reference is TRF-2024-4491."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310128"/>
            <a:ext cx="1737360" cy="31089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3101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Verdict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084832" y="3310128"/>
            <a:ext cx="6739128" cy="310896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22" name="Text 20"/>
          <p:cNvSpPr/>
          <p:nvPr/>
        </p:nvSpPr>
        <p:spPr>
          <a:xfrm>
            <a:off x="2212848" y="3310128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CA5A5"/>
                </a:solidFill>
              </a:rPr>
              <a:t>VIOLATION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657600"/>
            <a:ext cx="1737360" cy="31089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6576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Violation Turn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084832" y="3657600"/>
            <a:ext cx="6739128" cy="310896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26" name="Text 24"/>
          <p:cNvSpPr/>
          <p:nvPr/>
        </p:nvSpPr>
        <p:spPr>
          <a:xfrm>
            <a:off x="2212848" y="365760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Turn 1 — agent stated transfer cannot be recalled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4005072"/>
            <a:ext cx="1737360" cy="31089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" y="400507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Evidence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084832" y="4005072"/>
            <a:ext cx="6739128" cy="310896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0" name="Text 28"/>
          <p:cNvSpPr/>
          <p:nvPr/>
        </p:nvSpPr>
        <p:spPr>
          <a:xfrm>
            <a:off x="2212848" y="4005072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"we cannot do anything about it"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352544"/>
            <a:ext cx="1737360" cy="31089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435254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Self-correction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084832" y="4352544"/>
            <a:ext cx="6739128" cy="310896"/>
          </a:xfrm>
          <a:prstGeom prst="rect">
            <a:avLst/>
          </a:prstGeom>
          <a:solidFill>
            <a:srgbClr val="065A4E"/>
          </a:solidFill>
          <a:ln/>
        </p:spPr>
      </p:sp>
      <p:sp>
        <p:nvSpPr>
          <p:cNvPr id="34" name="Text 32"/>
          <p:cNvSpPr/>
          <p:nvPr/>
        </p:nvSpPr>
        <p:spPr>
          <a:xfrm>
            <a:off x="2212848" y="4352544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</a:rPr>
              <a:t>Acknowledged — agent corrected fully in turns 2 and 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4700016"/>
            <a:ext cx="1737360" cy="31089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47000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Summary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084832" y="4700016"/>
            <a:ext cx="6739128" cy="310896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8" name="Text 36"/>
          <p:cNvSpPr/>
          <p:nvPr/>
        </p:nvSpPr>
        <p:spPr>
          <a:xfrm>
            <a:off x="2212848" y="4700016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Agent violated policy initially but recovered — coaching on turn 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Coaching Report — CALL-B (cancel_transfer)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2A"/>
                </a:solidFill>
              </a:rPr>
              <a:t>Auto-generated · data/coaching/CALL-B.json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74320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2743200" cy="40233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37160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Strengths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883664"/>
            <a:ext cx="2468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·  Acknowledged the mistake and apologised promptly when corrected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724912"/>
            <a:ext cx="2468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·  Proactively offered to raise a recall request with the receiving bank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2468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·  Provided a clear case reference and 24-hour timeline for follow-up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1371600"/>
            <a:ext cx="274320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371600"/>
            <a:ext cx="2743200" cy="40233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37160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Improvements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1883664"/>
            <a:ext cx="2468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·  Never tell a customer nothing can be done before investigating options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37560" y="2724912"/>
            <a:ext cx="2468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·  Always check recall procedures before responding about transfer errors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37560" y="3566160"/>
            <a:ext cx="2468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·  Lead with empathy and solution options — not limitations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80760" y="1371600"/>
            <a:ext cx="274320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371600"/>
            <a:ext cx="2743200" cy="402336"/>
          </a:xfrm>
          <a:prstGeom prst="rect">
            <a:avLst/>
          </a:prstGeom>
          <a:solidFill>
            <a:srgbClr val="991B1B"/>
          </a:solidFill>
          <a:ln/>
        </p:spPr>
      </p:sp>
      <p:sp>
        <p:nvSpPr>
          <p:cNvPr id="19" name="Text 17"/>
          <p:cNvSpPr/>
          <p:nvPr/>
        </p:nvSpPr>
        <p:spPr>
          <a:xfrm>
            <a:off x="6080760" y="137160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Rephrasing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1883664"/>
            <a:ext cx="2468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·  Original: "once a transfer is sent we cannot do anything about it"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17920" y="2724912"/>
            <a:ext cx="2468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·  Better: "Let me check what options we have — in some cases we can raise a recall request with the receiving bank."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Known Limitations &amp; How We Addressed Them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8090"/>
                </a:solidFill>
              </a:rPr>
              <a:t>Honest evaluation of the system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8503920" cy="987552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502920" cy="9875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417320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147218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Over-flagging (Fixed)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What: LLM marked correct agent responses as violations — e.g. 'I'll block your card' flagged.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Fix:  Raised threshold 0.25 → 0.45. Added prompt: 'Only flag if agent clearly broke a rule and did NOT correct themselves later.'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67728" y="1673352"/>
            <a:ext cx="173736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967728" y="16733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FIXED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532888"/>
            <a:ext cx="8503920" cy="987552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532888"/>
            <a:ext cx="502920" cy="987552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532888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14400" y="258775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Utterance Isolation (Fixed)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400" y="289864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What: Per-utterance evaluation couldn't detect self-corrections — agent fixing a mistake was still penalised.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317296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Fix:  Replaced with call-level evaluation. LLM now sees full conversation in one prompt and judges the complete interaction.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67728" y="2788920"/>
            <a:ext cx="1737360" cy="384048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20" name="Text 18"/>
          <p:cNvSpPr/>
          <p:nvPr/>
        </p:nvSpPr>
        <p:spPr>
          <a:xfrm>
            <a:off x="6967728" y="27889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FIXED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648456"/>
            <a:ext cx="8503920" cy="987552"/>
          </a:xfrm>
          <a:prstGeom prst="rect">
            <a:avLst/>
          </a:prstGeom>
          <a:solidFill>
            <a:srgbClr val="1A2E42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648456"/>
            <a:ext cx="502920" cy="987552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3648456"/>
            <a:ext cx="5029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03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14400" y="37033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Fine-Class Confusion (Upstream)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14400" y="40142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What: Some fine classes share near-identical vocabulary — e.g. declined_card_payment vs card_not_working.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4400" y="428853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8"/>
                </a:solidFill>
              </a:rPr>
              <a:t>Fix:  Coarse category is correct in all cases. Fine-class accuracy improved with Banking77 grounding. Residual confusion is in the upstream model.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967728" y="3904488"/>
            <a:ext cx="1737360" cy="38404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8" name="Text 26"/>
          <p:cNvSpPr/>
          <p:nvPr/>
        </p:nvSpPr>
        <p:spPr>
          <a:xfrm>
            <a:off x="6967728" y="390448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UPSTREAM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 4 — RAG Compliance System (Final)</dc:title>
  <dc:subject>PptxGenJS Presentation</dc:subject>
  <dc:creator>PptxGenJS</dc:creator>
  <cp:lastModifiedBy>PptxGenJS</cp:lastModifiedBy>
  <cp:revision>1</cp:revision>
  <dcterms:created xsi:type="dcterms:W3CDTF">2026-04-28T21:22:47Z</dcterms:created>
  <dcterms:modified xsi:type="dcterms:W3CDTF">2026-04-28T21:22:47Z</dcterms:modified>
</cp:coreProperties>
</file>